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IKANDAN B" userId="09feb59a496737de" providerId="LiveId" clId="{AF9D8034-D58C-4F41-BD33-080E709ECD64}"/>
    <pc:docChg chg="addSld modSld sldOrd">
      <pc:chgData name="MANIKANDAN B" userId="09feb59a496737de" providerId="LiveId" clId="{AF9D8034-D58C-4F41-BD33-080E709ECD64}" dt="2026-09-30T12:02:00.816" v="7" actId="1076"/>
      <pc:docMkLst>
        <pc:docMk/>
      </pc:docMkLst>
      <pc:sldChg chg="addSp modSp new mod ord">
        <pc:chgData name="MANIKANDAN B" userId="09feb59a496737de" providerId="LiveId" clId="{AF9D8034-D58C-4F41-BD33-080E709ECD64}" dt="2026-09-30T12:02:00.816" v="7" actId="1076"/>
        <pc:sldMkLst>
          <pc:docMk/>
          <pc:sldMk cId="2432987100" sldId="266"/>
        </pc:sldMkLst>
        <pc:spChg chg="add">
          <ac:chgData name="MANIKANDAN B" userId="09feb59a496737de" providerId="LiveId" clId="{AF9D8034-D58C-4F41-BD33-080E709ECD64}" dt="2026-09-30T12:01:45.219" v="3" actId="11529"/>
          <ac:spMkLst>
            <pc:docMk/>
            <pc:sldMk cId="2432987100" sldId="266"/>
            <ac:spMk id="2" creationId="{E82F7289-6DAE-54A0-A31B-18E0494B56DE}"/>
          </ac:spMkLst>
        </pc:spChg>
        <pc:spChg chg="add mod">
          <ac:chgData name="MANIKANDAN B" userId="09feb59a496737de" providerId="LiveId" clId="{AF9D8034-D58C-4F41-BD33-080E709ECD64}" dt="2026-09-30T12:01:54.713" v="5" actId="1076"/>
          <ac:spMkLst>
            <pc:docMk/>
            <pc:sldMk cId="2432987100" sldId="266"/>
            <ac:spMk id="4" creationId="{4FF02DEB-1DD1-E3E4-3FA8-F6EB9E654F39}"/>
          </ac:spMkLst>
        </pc:spChg>
        <pc:spChg chg="add mod">
          <ac:chgData name="MANIKANDAN B" userId="09feb59a496737de" providerId="LiveId" clId="{AF9D8034-D58C-4F41-BD33-080E709ECD64}" dt="2026-09-30T12:02:00.816" v="7" actId="1076"/>
          <ac:spMkLst>
            <pc:docMk/>
            <pc:sldMk cId="2432987100" sldId="266"/>
            <ac:spMk id="6" creationId="{E6D038F2-0762-0ED3-3497-95B509112AC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7702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463040"/>
            <a:ext cx="4754880" cy="475488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4023360" cy="4023360"/>
          </a:xfrm>
          <a:prstGeom prst="ellipse">
            <a:avLst/>
          </a:prstGeom>
          <a:solidFill>
            <a:srgbClr val="5B7FFF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5B7FFF">
              <a:alpha val="1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SYSTEM  ·  CAPSTONE PROJECT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Paper Answer Bot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Retrieval-Augmented Generation System over 8 Seminal GenAI &amp; LLM Research Papers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4160520"/>
            <a:ext cx="1828800" cy="0"/>
          </a:xfrm>
          <a:prstGeom prst="line">
            <a:avLst/>
          </a:prstGeom>
          <a:noFill/>
          <a:ln w="25400">
            <a:solidFill>
              <a:srgbClr val="5B7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434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Manikandan 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800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Program:  </a:t>
            </a:r>
            <a:r>
              <a:rPr lang="en-IN" sz="1400" dirty="0">
                <a:solidFill>
                  <a:srgbClr val="FFFFFF"/>
                </a:solidFill>
              </a:rPr>
              <a:t>GENAI PINNACLE PLUS PROGRAM / CAPSTONE PROJECT 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" y="5166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Research Paper Answer Bot?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157276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Context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01952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and engineers spend hours manually skimming dense, long-form PDF papers to find one fact, definition, or formula — a slow and error-prone process.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34440" y="299008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319272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grounded question-answering system that lets a user ask natural-language questions across a curated set of GenAI/LLM papers and get accurate, citation-backed answers instantly.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4440" y="440740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 Case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736592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or ML engineer preparing for a viva, literature review, or technical interview asks: "How does LoRA reduce trainable parameters?" and receives an answer grounded strictly in the source papers, with page-level citations.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281160" y="1600200"/>
            <a:ext cx="2331720" cy="4434840"/>
          </a:xfrm>
          <a:prstGeom prst="roundRect">
            <a:avLst>
              <a:gd name="adj" fmla="val 4706"/>
            </a:avLst>
          </a:prstGeom>
          <a:solidFill>
            <a:srgbClr val="141A45"/>
          </a:solidFill>
          <a:ln/>
        </p:spPr>
      </p:sp>
      <p:sp>
        <p:nvSpPr>
          <p:cNvPr id="17" name="Text 15"/>
          <p:cNvSpPr/>
          <p:nvPr/>
        </p:nvSpPr>
        <p:spPr>
          <a:xfrm>
            <a:off x="9281160" y="18288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9281160" y="25146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Seminal Papers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555480" y="3200400"/>
            <a:ext cx="1783080" cy="0"/>
          </a:xfrm>
          <a:prstGeom prst="line">
            <a:avLst/>
          </a:prstGeom>
          <a:noFill/>
          <a:ln w="12700">
            <a:solidFill>
              <a:srgbClr val="5B7FFF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9281160" y="33375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9281160" y="40233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Strategies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555480" y="4709160"/>
            <a:ext cx="1783080" cy="0"/>
          </a:xfrm>
          <a:prstGeom prst="line">
            <a:avLst/>
          </a:prstGeom>
          <a:noFill/>
          <a:ln w="12700">
            <a:solidFill>
              <a:srgbClr val="5B7FFF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9281160" y="48463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4600" dirty="0"/>
          </a:p>
        </p:txBody>
      </p:sp>
      <p:sp>
        <p:nvSpPr>
          <p:cNvPr id="24" name="Text 22"/>
          <p:cNvSpPr/>
          <p:nvPr/>
        </p:nvSpPr>
        <p:spPr>
          <a:xfrm>
            <a:off x="9281160" y="55321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Tolerance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(Grounded Only)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Answer Bot  |  RAG System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RAG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331720"/>
            <a:ext cx="1466959" cy="1417320"/>
          </a:xfrm>
          <a:prstGeom prst="roundRect">
            <a:avLst>
              <a:gd name="adj" fmla="val 5161"/>
            </a:avLst>
          </a:prstGeom>
          <a:solidFill>
            <a:srgbClr val="CADCFC"/>
          </a:solidFill>
          <a:ln/>
          <a:effectLst>
            <a:outerShdw blurRad="76200" dist="25400" dir="5400000" algn="bl" rotWithShape="0">
              <a:srgbClr val="9AA5C9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2441448"/>
            <a:ext cx="14669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57784" y="2898648"/>
            <a:ext cx="135723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PDF Papers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57784" y="3227832"/>
            <a:ext cx="135723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PyPDFLoader ingestion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951591" y="274320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7FFF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125327" y="2331720"/>
            <a:ext cx="1466959" cy="1417320"/>
          </a:xfrm>
          <a:prstGeom prst="roundRect">
            <a:avLst>
              <a:gd name="adj" fmla="val 5161"/>
            </a:avLst>
          </a:prstGeom>
          <a:solidFill>
            <a:srgbClr val="CADCFC"/>
          </a:solidFill>
          <a:ln/>
          <a:effectLst>
            <a:outerShdw blurRad="76200" dist="25400" dir="5400000" algn="bl" rotWithShape="0">
              <a:srgbClr val="9AA5C9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25327" y="2441448"/>
            <a:ext cx="14669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✂️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80191" y="2898648"/>
            <a:ext cx="135723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80191" y="3227832"/>
            <a:ext cx="135723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splitter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chars / 200 overlap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573998" y="274320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7FFF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47734" y="2331720"/>
            <a:ext cx="1466959" cy="1417320"/>
          </a:xfrm>
          <a:prstGeom prst="roundRect">
            <a:avLst>
              <a:gd name="adj" fmla="val 5161"/>
            </a:avLst>
          </a:prstGeom>
          <a:solidFill>
            <a:srgbClr val="CADCFC"/>
          </a:solidFill>
          <a:ln/>
          <a:effectLst>
            <a:outerShdw blurRad="76200" dist="25400" dir="5400000" algn="bl" rotWithShape="0">
              <a:srgbClr val="9AA5C9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47734" y="2441448"/>
            <a:ext cx="14669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802598" y="2898648"/>
            <a:ext cx="135723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02598" y="3227832"/>
            <a:ext cx="135723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BGE-small-en-v1.5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 OpenAI compare)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196405" y="274320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7FFF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70141" y="2331720"/>
            <a:ext cx="1466959" cy="1417320"/>
          </a:xfrm>
          <a:prstGeom prst="roundRect">
            <a:avLst>
              <a:gd name="adj" fmla="val 5161"/>
            </a:avLst>
          </a:prstGeom>
          <a:solidFill>
            <a:srgbClr val="CADCFC"/>
          </a:solidFill>
          <a:ln/>
          <a:effectLst>
            <a:outerShdw blurRad="76200" dist="25400" dir="5400000" algn="bl" rotWithShape="0">
              <a:srgbClr val="9AA5C9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70141" y="2441448"/>
            <a:ext cx="14669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25005" y="2898648"/>
            <a:ext cx="135723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25005" y="3227832"/>
            <a:ext cx="135723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vector store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818811" y="274320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7FFF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992547" y="2331720"/>
            <a:ext cx="1466959" cy="1417320"/>
          </a:xfrm>
          <a:prstGeom prst="roundRect">
            <a:avLst>
              <a:gd name="adj" fmla="val 5161"/>
            </a:avLst>
          </a:prstGeom>
          <a:solidFill>
            <a:srgbClr val="CADCFC"/>
          </a:solidFill>
          <a:ln/>
          <a:effectLst>
            <a:outerShdw blurRad="76200" dist="25400" dir="5400000" algn="bl" rotWithShape="0">
              <a:srgbClr val="9AA5C9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92547" y="2441448"/>
            <a:ext cx="14669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047411" y="2898648"/>
            <a:ext cx="135723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047411" y="3227832"/>
            <a:ext cx="135723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· MMR · Hybrid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 · Multi-Query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441218" y="274320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7FFF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614954" y="2331720"/>
            <a:ext cx="1466959" cy="1417320"/>
          </a:xfrm>
          <a:prstGeom prst="roundRect">
            <a:avLst>
              <a:gd name="adj" fmla="val 5161"/>
            </a:avLst>
          </a:prstGeom>
          <a:solidFill>
            <a:srgbClr val="141A45"/>
          </a:solidFill>
          <a:ln/>
          <a:effectLst>
            <a:outerShdw blurRad="76200" dist="25400" dir="5400000" algn="bl" rotWithShape="0">
              <a:srgbClr val="9AA5C9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614954" y="2441448"/>
            <a:ext cx="14669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✨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669818" y="2898648"/>
            <a:ext cx="135723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669818" y="3227832"/>
            <a:ext cx="135723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generation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063625" y="274320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7FFF"/>
                </a:solidFill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237361" y="2331720"/>
            <a:ext cx="1466959" cy="1417320"/>
          </a:xfrm>
          <a:prstGeom prst="roundRect">
            <a:avLst>
              <a:gd name="adj" fmla="val 5161"/>
            </a:avLst>
          </a:prstGeom>
          <a:solidFill>
            <a:srgbClr val="CADCFC"/>
          </a:solidFill>
          <a:ln/>
          <a:effectLst>
            <a:outerShdw blurRad="76200" dist="25400" dir="5400000" algn="bl" rotWithShape="0">
              <a:srgbClr val="9AA5C9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0237361" y="2441448"/>
            <a:ext cx="14669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0292225" y="2898648"/>
            <a:ext cx="135723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292225" y="3227832"/>
            <a:ext cx="135723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sources + page #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02920" y="4160520"/>
            <a:ext cx="11201400" cy="1508760"/>
          </a:xfrm>
          <a:prstGeom prst="roundRect">
            <a:avLst>
              <a:gd name="adj" fmla="val 6061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" y="4434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77724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1463040" y="434340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Engineering Decision: LLM Provider Swap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463040" y="466344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generation was replaced with Google Gemini (gemini-2.5-flash) after OpenAI quota exhaustion — the entire retrieval architecture and pipeline design were fully preserved. OpenAI text-embedding-3-small was still retained for comparative embedding experiments.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Answer Bot  |  RAG System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CHUNKING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Text-Splitting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94767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Is All You Need — Vaswani et al., 2017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0" y="1920240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3310128" y="194767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— Devlin et al., 2018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51460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 (Few-Shot Learners) — Brown et al., 2020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0" y="2487168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3310128" y="251460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 (Text-to-Text Transformer) — Raffel et al., 2019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8640" y="3054096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08152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(Low-Rank Adaptation) — Hu et al., 2021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0" y="3054096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3310128" y="308152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(Retrieval-Augmented Generation) — Lewis et al., 2020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8640" y="3621024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3648456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InstructGPT (RLHF) — Ouyang et al., 2022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0" y="3621024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  <a:ln/>
        </p:spPr>
      </p:sp>
      <p:sp>
        <p:nvSpPr>
          <p:cNvPr id="20" name="Text 18"/>
          <p:cNvSpPr/>
          <p:nvPr/>
        </p:nvSpPr>
        <p:spPr>
          <a:xfrm>
            <a:off x="3310128" y="3648456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— Touvron et al., 2023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17220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STRATEGIES COMPARED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72200" y="196596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203911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55080" y="23317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char-count splitting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55080" y="258775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mid-sentence / mid-word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72200" y="306324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141A45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313639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(chosen)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55080" y="34290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on \n\n → \n → sentence → word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55080" y="36850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semantic coherence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72200" y="416052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423367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55080" y="45262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Embedding-based topic-boundary split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55080" y="478231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Costlier; variable chunk sizes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72200" y="525780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FF6E8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5330952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decision: chunk_size = 1000 chars (~250 tokens), overlap = 200 chars (20%) — small enough for retrieval precision, large enough to keep a theorem with its proof; overlap preserves continuity across chunk boundaries.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Answer Bot  |  RAG System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Open-Source vs. Commercial Embeddings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3246120"/>
          </a:xfrm>
          <a:prstGeom prst="roundRect">
            <a:avLst>
              <a:gd name="adj" fmla="val 2817"/>
            </a:avLst>
          </a:prstGeom>
          <a:solidFill>
            <a:srgbClr val="141A4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CHOSEN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BAAI/bge-small-en-v1.5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· HuggingFace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384 dimensions, ~33M parameters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33558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Runs entirely locally — no API cost or added latency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373989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Strong MTEB benchmark scores for its size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412394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L2-normalized embeddings for cosine similarity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55080" y="1691640"/>
            <a:ext cx="5257800" cy="3246120"/>
          </a:xfrm>
          <a:prstGeom prst="roundRect">
            <a:avLst>
              <a:gd name="adj" fmla="val 2817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BENCHMARK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29400" y="21488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 text-embedding-3-small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629400" y="2560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· API-based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2971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1536 dimensions — higher-dimensional representation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675120" y="33558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State-of-the-art retrieval quality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675120" y="373989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Requires API calls — cost per token, network latency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675120" y="412394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Kept for side-by-side comparative experiments only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AF0F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257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Justification: Evaluated qualitatively via cosine similarity of sample queries against document chunks across all 8 papers. BGE-small retrieved comparably relevant chunks with zero API cost and zero external dependency — the deciding factor for a local-first, reproducible pipeline.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Answer Bot  |  RAG System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Database &amp; Retrieval Strategies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DATABASE: ChromaDB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4708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· persistent to disk · native LangChain integration · metadata filtering (paper/page) · separate collections per embedding model for fair A/B comparison.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239572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RETRIEVAL STRATEGIES COMPARED  →  Final selection based on precision/recall trade-off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2112264" cy="3063240"/>
          </a:xfrm>
          <a:prstGeom prst="roundRect">
            <a:avLst>
              <a:gd name="adj" fmla="val 3896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926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3355848"/>
            <a:ext cx="1837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(Cosine)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3931920"/>
            <a:ext cx="1837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vector search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4754880"/>
            <a:ext cx="1837944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846320"/>
            <a:ext cx="18379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simple — misses exact keyword matches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98064" y="2788920"/>
            <a:ext cx="2112264" cy="3063240"/>
          </a:xfrm>
          <a:prstGeom prst="roundRect">
            <a:avLst>
              <a:gd name="adj" fmla="val 3896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2935224" y="2926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935224" y="3355848"/>
            <a:ext cx="1837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935224" y="3931920"/>
            <a:ext cx="1837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λ=0.7 relevance/diversity balance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935224" y="4754880"/>
            <a:ext cx="1837944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35224" y="4846320"/>
            <a:ext cx="18379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redundant near-duplicate chunks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47488" y="2788920"/>
            <a:ext cx="2112264" cy="3063240"/>
          </a:xfrm>
          <a:prstGeom prst="roundRect">
            <a:avLst>
              <a:gd name="adj" fmla="val 3896"/>
            </a:avLst>
          </a:prstGeom>
          <a:solidFill>
            <a:srgbClr val="F4F6FC"/>
          </a:solidFill>
          <a:ln/>
        </p:spPr>
      </p:sp>
      <p:sp>
        <p:nvSpPr>
          <p:cNvPr id="20" name="Text 18"/>
          <p:cNvSpPr/>
          <p:nvPr/>
        </p:nvSpPr>
        <p:spPr>
          <a:xfrm>
            <a:off x="5184648" y="2926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184648" y="3355848"/>
            <a:ext cx="1837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(BM25+Dense)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184648" y="3931920"/>
            <a:ext cx="1837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Rank Fusion, 0.4/0.6 weight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84648" y="4754880"/>
            <a:ext cx="1837944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84648" y="4846320"/>
            <a:ext cx="18379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semantic + exact keyword recall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296912" y="2788920"/>
            <a:ext cx="2112264" cy="3063240"/>
          </a:xfrm>
          <a:prstGeom prst="roundRect">
            <a:avLst>
              <a:gd name="adj" fmla="val 3896"/>
            </a:avLst>
          </a:prstGeom>
          <a:solidFill>
            <a:srgbClr val="141A45"/>
          </a:solidFill>
          <a:ln/>
        </p:spPr>
      </p:sp>
      <p:sp>
        <p:nvSpPr>
          <p:cNvPr id="26" name="Text 24"/>
          <p:cNvSpPr/>
          <p:nvPr/>
        </p:nvSpPr>
        <p:spPr>
          <a:xfrm>
            <a:off x="7434072" y="2926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B7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434072" y="3355848"/>
            <a:ext cx="1837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434072" y="3931920"/>
            <a:ext cx="1837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ms-marco-MiniLM-L-6-v2 on top-20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434072" y="4754880"/>
            <a:ext cx="1837944" cy="0"/>
          </a:xfrm>
          <a:prstGeom prst="line">
            <a:avLst/>
          </a:prstGeom>
          <a:noFill/>
          <a:ln w="9525">
            <a:solidFill>
              <a:srgbClr val="3A45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34072" y="4846320"/>
            <a:ext cx="18379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precision; ~200ms added latency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434072" y="5486400"/>
            <a:ext cx="1837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FEATURED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546336" y="2788920"/>
            <a:ext cx="2112264" cy="3063240"/>
          </a:xfrm>
          <a:prstGeom prst="roundRect">
            <a:avLst>
              <a:gd name="adj" fmla="val 3896"/>
            </a:avLst>
          </a:prstGeom>
          <a:solidFill>
            <a:srgbClr val="F4F6FC"/>
          </a:solidFill>
          <a:ln/>
        </p:spPr>
      </p:sp>
      <p:sp>
        <p:nvSpPr>
          <p:cNvPr id="33" name="Text 31"/>
          <p:cNvSpPr/>
          <p:nvPr/>
        </p:nvSpPr>
        <p:spPr>
          <a:xfrm>
            <a:off x="9683496" y="2926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9683496" y="3355848"/>
            <a:ext cx="1837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Multi-Query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683496" y="3931920"/>
            <a:ext cx="1837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query variants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683496" y="4754880"/>
            <a:ext cx="1837944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83496" y="4846320"/>
            <a:ext cx="18379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recall; extra LLM calls = added cost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Answer Bot  |  RAG System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Chain Construction &amp; Prompting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CONSTRUCTION (LangChain LCEL)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9385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user question (+ sliding-window chat history, k=5)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3230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32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45059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relevant chunks via selected retrieval strategy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94436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44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96265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chunks with citation metadata (paper title, page, source file)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45643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456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474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grounded answer via Gemini 2.5-flash (temp=0.0)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96849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9684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98678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answer + top-3 supporting citations with page numbers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4617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USED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8920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983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— gemini-2.5-flash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53035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0.0 (deterministic)  ·  max_tokens = 1500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for cost-effective, strong instruction-following generation.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55080" y="1554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 — ANTI-HALLUCINATION RULES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55080" y="1874520"/>
            <a:ext cx="5303520" cy="4251960"/>
          </a:xfrm>
          <a:prstGeom prst="roundRect">
            <a:avLst>
              <a:gd name="adj" fmla="val 2151"/>
            </a:avLst>
          </a:prstGeom>
          <a:solidFill>
            <a:srgbClr val="141A45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2084832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03720" y="208483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ONLY from retrieved context — no outside knowledge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6583680" y="2679192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03720" y="267919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context is insufficient: "I don't know based on the provided research papers."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6583680" y="3273552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03720" y="327355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fabricate paper titles, citations, or page numbers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6583680" y="3867912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03720" y="386791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cite paper title + page number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6583680" y="4462272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03720" y="446227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Detailed, technical tone for a research audience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6583680" y="5056632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03720" y="505663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history informs follow-ups, but answers stay context-grounded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6583680" y="569671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Answer Modes: standard · concise · detailed · viva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Answer Bot  |  RAG System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DEMO &amp; STRETCH 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Q&amp;A, Evaluation &amp; Enhancements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669280" cy="251460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Q&amp;A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029968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i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“What problem does LoRA solve, and how does it reduce trainable parameters?”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LoRA freezes pretrained weights and injects trainable low-rank decomposition matrices into each transformer layer, cutting trainable parameters by orders of magnitude while matching full fine-tuning performance.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3474720"/>
            <a:ext cx="521208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5661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Used:  1. LoRA — Page 3   2. LoRA — Page 4   3. GPT-3 — Page 12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355080" y="1600200"/>
            <a:ext cx="5303520" cy="2514600"/>
          </a:xfrm>
          <a:prstGeom prst="roundRect">
            <a:avLst>
              <a:gd name="adj" fmla="val 3636"/>
            </a:avLst>
          </a:prstGeom>
          <a:solidFill>
            <a:srgbClr val="141A45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20299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test questions spanning all 8 papers, manually + RAGAS-scored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2514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Faithfulness — is the answer grounded in retrieved context?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0" y="289864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Answer Relevancy — does it address the question asked?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328269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Context Precision / Recall — quality of retrieved chunks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0" y="366674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Difficulty range: medium (single-paper) → hard (cross-paper synthesis)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297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GOALS BUILT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3581400" cy="1508760"/>
          </a:xfrm>
          <a:prstGeom prst="roundRect">
            <a:avLst>
              <a:gd name="adj" fmla="val 4848"/>
            </a:avLst>
          </a:prstGeom>
          <a:solidFill>
            <a:srgbClr val="EAF0F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7274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5800" y="5120640"/>
            <a:ext cx="3307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Memory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85800" y="5458968"/>
            <a:ext cx="3307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Sliding-window (k=5) chat history for multi-turn, follow-up Q&amp;A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4312920" y="4617720"/>
            <a:ext cx="3581400" cy="1508760"/>
          </a:xfrm>
          <a:prstGeom prst="roundRect">
            <a:avLst>
              <a:gd name="adj" fmla="val 4848"/>
            </a:avLst>
          </a:prstGeom>
          <a:solidFill>
            <a:srgbClr val="EAF0FF"/>
          </a:solidFill>
          <a:ln/>
        </p:spPr>
      </p:sp>
      <p:sp>
        <p:nvSpPr>
          <p:cNvPr id="23" name="Text 21"/>
          <p:cNvSpPr/>
          <p:nvPr/>
        </p:nvSpPr>
        <p:spPr>
          <a:xfrm>
            <a:off x="4450080" y="47274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450080" y="5120640"/>
            <a:ext cx="3307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 Confidence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450080" y="5458968"/>
            <a:ext cx="3307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Strong/Moderate/Weak evidence scoring from retrieval relevance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8077200" y="4617720"/>
            <a:ext cx="3581400" cy="1508760"/>
          </a:xfrm>
          <a:prstGeom prst="roundRect">
            <a:avLst>
              <a:gd name="adj" fmla="val 4848"/>
            </a:avLst>
          </a:prstGeom>
          <a:solidFill>
            <a:srgbClr val="EAF0FF"/>
          </a:solidFill>
          <a:ln/>
        </p:spPr>
      </p:sp>
      <p:sp>
        <p:nvSpPr>
          <p:cNvPr id="27" name="Text 25"/>
          <p:cNvSpPr/>
          <p:nvPr/>
        </p:nvSpPr>
        <p:spPr>
          <a:xfrm>
            <a:off x="8214360" y="47274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🗂️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214360" y="5120640"/>
            <a:ext cx="3307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 Comparison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14360" y="5458968"/>
            <a:ext cx="3307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Markdown/TXT conversation export + cross-paper comparison mode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Answer Bot  |  RAG System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LEARNINGS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Difficulties and How They Were Resolved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01368"/>
            <a:ext cx="566928" cy="566928"/>
          </a:xfrm>
          <a:prstGeom prst="ellipse">
            <a:avLst/>
          </a:prstGeom>
          <a:solidFill>
            <a:srgbClr val="FFE3C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013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6916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quota exhaustion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16916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LLM generation mid-project.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001000" y="1764792"/>
            <a:ext cx="0" cy="73152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83880" y="169164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Swapped generation to Google Gemini (gemini-2.5-flash) via langchain-google-genai — pipeline and retrieval logic untouched.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990088"/>
            <a:ext cx="566928" cy="566928"/>
          </a:xfrm>
          <a:prstGeom prst="ellipse">
            <a:avLst/>
          </a:prstGeom>
          <a:solidFill>
            <a:srgbClr val="FFE3C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900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28803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chunk size vs. retrieval precision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88036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academic text risked losing context (e.g. splitting a theorem from its proof).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01000" y="2953512"/>
            <a:ext cx="0" cy="73152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288036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Adopted recursive character splitting (1000/200 overlap) after comparing fixed, recursive, and semantic strategies.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4178808"/>
            <a:ext cx="566928" cy="566928"/>
          </a:xfrm>
          <a:prstGeom prst="ellipse">
            <a:avLst/>
          </a:prstGeom>
          <a:solidFill>
            <a:srgbClr val="FFE3C2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1788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508760" y="40690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vs. accuracy trade-off in retrieval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40690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reranking is the most precise but adds ~200ms per query.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001000" y="4142232"/>
            <a:ext cx="0" cy="73152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83880" y="406908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Made retrieval strategy configurable — reranker for accuracy-critical queries, dense/MMR for speed.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516636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" y="5367528"/>
            <a:ext cx="566928" cy="566928"/>
          </a:xfrm>
          <a:prstGeom prst="ellipse">
            <a:avLst/>
          </a:prstGeom>
          <a:solidFill>
            <a:srgbClr val="FFE3C2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53675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508760" y="52578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hallucinated citations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525780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can invent plausible-sounding page numbers or quotes.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001000" y="5330952"/>
            <a:ext cx="0" cy="73152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83880" y="525780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Strict prompt rules force answers only from retrieved context, with an explicit "I don't know" fallback.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Answer Bot  |  RAG System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5029200" cy="50292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389120"/>
            <a:ext cx="4572000" cy="4572000"/>
          </a:xfrm>
          <a:prstGeom prst="ellipse">
            <a:avLst/>
          </a:prstGeom>
          <a:solidFill>
            <a:srgbClr val="5B7F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Future Improvements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0299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fully grounded RAG system over 8 seminal GenAI/LLM papers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41401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5 retrieval strategies benchmarked; hybrid + reranking as top performers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279806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Anti-hallucination prompting with mandatory page-level citations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318211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Multi-turn memory, groundedness scoring, and export — all via Streamlit UI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37960" y="1691640"/>
            <a:ext cx="0" cy="374904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1691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12280" y="20299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Expand corpus to a larger, continuously updated arXiv paper set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12280" y="241401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Automate retrieval-strategy selection per query type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12280" y="279806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Add CRAG-style web fallback (Tavily) for out-of-corpus questions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12280" y="318211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Deploy with authentication, usage analytics, and RAGAS-based CI regression tests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5623560"/>
            <a:ext cx="10881360" cy="0"/>
          </a:xfrm>
          <a:prstGeom prst="line">
            <a:avLst/>
          </a:prstGeom>
          <a:noFill/>
          <a:ln w="9525">
            <a:solidFill>
              <a:srgbClr val="3A45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·  Questions?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82F7289-6DAE-54A0-A31B-18E0494B56DE}"/>
              </a:ext>
            </a:extLst>
          </p:cNvPr>
          <p:cNvSpPr/>
          <p:nvPr/>
        </p:nvSpPr>
        <p:spPr>
          <a:xfrm>
            <a:off x="709127" y="606490"/>
            <a:ext cx="867746" cy="7277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FF02DEB-1DD1-E3E4-3FA8-F6EB9E654F39}"/>
              </a:ext>
            </a:extLst>
          </p:cNvPr>
          <p:cNvSpPr/>
          <p:nvPr/>
        </p:nvSpPr>
        <p:spPr>
          <a:xfrm>
            <a:off x="1803919" y="606490"/>
            <a:ext cx="867746" cy="7277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6D038F2-0762-0ED3-3497-95B509112ACE}"/>
              </a:ext>
            </a:extLst>
          </p:cNvPr>
          <p:cNvSpPr/>
          <p:nvPr/>
        </p:nvSpPr>
        <p:spPr>
          <a:xfrm>
            <a:off x="2898711" y="606490"/>
            <a:ext cx="867746" cy="7277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987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1411</Words>
  <Application>Microsoft Office PowerPoint</Application>
  <PresentationFormat>Widescreen</PresentationFormat>
  <Paragraphs>236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MANIKANDAN B</cp:lastModifiedBy>
  <cp:revision>2</cp:revision>
  <dcterms:created xsi:type="dcterms:W3CDTF">2026-09-18T13:45:41Z</dcterms:created>
  <dcterms:modified xsi:type="dcterms:W3CDTF">2026-09-30T12:02:06Z</dcterms:modified>
</cp:coreProperties>
</file>